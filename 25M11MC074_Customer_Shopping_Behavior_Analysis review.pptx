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65" r:id="rId3"/>
    <p:sldId id="271" r:id="rId4"/>
    <p:sldId id="263" r:id="rId5"/>
    <p:sldId id="272" r:id="rId6"/>
    <p:sldId id="266" r:id="rId7"/>
    <p:sldId id="267" r:id="rId8"/>
    <p:sldId id="268" r:id="rId9"/>
    <p:sldId id="269" r:id="rId10"/>
  </p:sldIdLst>
  <p:sldSz cx="12192000" cy="6858000"/>
  <p:notesSz cx="12192000" cy="6858000"/>
  <p:embeddedFontLst>
    <p:embeddedFont>
      <p:font typeface="Bookman Old Style" panose="02050604050505020204" pitchFamily="18" charset="0"/>
      <p:regular r:id="rId12"/>
      <p:bold r:id="rId13"/>
      <p:italic r:id="rId14"/>
      <p:boldItalic r:id="rId15"/>
    </p:embeddedFont>
    <p:embeddedFont>
      <p:font typeface="Calibri" panose="020F0502020204030204" pitchFamily="34" charset="0"/>
      <p:regular r:id="rId16"/>
      <p:bold r:id="rId17"/>
      <p:italic r:id="rId18"/>
      <p:boldItalic r:id="rId19"/>
    </p:embeddedFont>
    <p:embeddedFont>
      <p:font typeface="Calibri Light" panose="020F0302020204030204" pitchFamily="34" charset="0"/>
      <p:regular r:id="rId20"/>
      <p:italic r:id="rId21"/>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92"/>
  </p:normalViewPr>
  <p:slideViewPr>
    <p:cSldViewPr snapToGrid="0" showGuides="1">
      <p:cViewPr varScale="1">
        <p:scale>
          <a:sx n="62" d="100"/>
          <a:sy n="62" d="100"/>
        </p:scale>
        <p:origin x="944"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3ef0237fbecff558" providerId="LiveId" clId="{1B805377-0F31-4389-9F89-501BD1ECAE6E}"/>
    <pc:docChg chg="modSld">
      <pc:chgData name="" userId="3ef0237fbecff558" providerId="LiveId" clId="{1B805377-0F31-4389-9F89-501BD1ECAE6E}" dt="2026-08-13T05:08:20.955" v="18" actId="20577"/>
      <pc:docMkLst>
        <pc:docMk/>
      </pc:docMkLst>
      <pc:sldChg chg="modSp">
        <pc:chgData name="" userId="3ef0237fbecff558" providerId="LiveId" clId="{1B805377-0F31-4389-9F89-501BD1ECAE6E}" dt="2026-08-13T05:08:20.955" v="18" actId="20577"/>
        <pc:sldMkLst>
          <pc:docMk/>
          <pc:sldMk cId="0" sldId="256"/>
        </pc:sldMkLst>
        <pc:spChg chg="mod">
          <ac:chgData name="" userId="3ef0237fbecff558" providerId="LiveId" clId="{1B805377-0F31-4389-9F89-501BD1ECAE6E}" dt="2026-08-09T19:09:45.510" v="0" actId="14100"/>
          <ac:spMkLst>
            <pc:docMk/>
            <pc:sldMk cId="0" sldId="256"/>
            <ac:spMk id="3" creationId="{00000000-0000-0000-0000-000000000000}"/>
          </ac:spMkLst>
        </pc:spChg>
        <pc:spChg chg="mod">
          <ac:chgData name="" userId="3ef0237fbecff558" providerId="LiveId" clId="{1B805377-0F31-4389-9F89-501BD1ECAE6E}" dt="2026-08-13T05:08:20.955" v="18" actId="20577"/>
          <ac:spMkLst>
            <pc:docMk/>
            <pc:sldMk cId="0" sldId="256"/>
            <ac:spMk id="5" creationId="{00000000-0000-0000-0000-000000000000}"/>
          </ac:spMkLst>
        </pc:spChg>
      </pc:sldChg>
      <pc:sldChg chg="modSp">
        <pc:chgData name="" userId="3ef0237fbecff558" providerId="LiveId" clId="{1B805377-0F31-4389-9F89-501BD1ECAE6E}" dt="2026-08-11T12:36:47.089" v="14" actId="20577"/>
        <pc:sldMkLst>
          <pc:docMk/>
          <pc:sldMk cId="0" sldId="268"/>
        </pc:sldMkLst>
        <pc:spChg chg="mod">
          <ac:chgData name="" userId="3ef0237fbecff558" providerId="LiveId" clId="{1B805377-0F31-4389-9F89-501BD1ECAE6E}" dt="2026-08-11T12:36:47.089" v="14" actId="20577"/>
          <ac:spMkLst>
            <pc:docMk/>
            <pc:sldMk cId="0" sldId="268"/>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524000" y="1854199"/>
            <a:ext cx="9144000" cy="1655763"/>
          </a:xfrm>
        </p:spPr>
        <p:txBody>
          <a:bodyPr rtlCol="0" anchor="b"/>
          <a:lstStyle>
            <a:lvl1pPr lvl="0" algn="ctr">
              <a:defRPr lang="en-US" sz="6000" dirty="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a:t>Click to edit Master subtitle style</a:t>
            </a:r>
          </a:p>
        </p:txBody>
      </p:sp>
      <p:pic>
        <p:nvPicPr>
          <p:cNvPr id="4" name="Picture 3"/>
          <p:cNvPicPr>
            <a:picLocks noChangeAspect="1"/>
          </p:cNvPicPr>
          <p:nvPr userDrawn="1"/>
        </p:nvPicPr>
        <p:blipFill>
          <a:blip r:embed="rId2"/>
          <a:stretch>
            <a:fillRect/>
          </a:stretch>
        </p:blipFill>
        <p:spPr>
          <a:xfrm>
            <a:off x="2567608" y="592088"/>
            <a:ext cx="7609140" cy="1008112"/>
          </a:xfrm>
          <a:prstGeom prst="rect">
            <a:avLst/>
          </a:prstGeom>
          <a:noFill/>
        </p:spPr>
      </p:pic>
      <p:sp>
        <p:nvSpPr>
          <p:cNvPr id="5" name="Footer Placeholder 4"/>
          <p:cNvSpPr>
            <a:spLocks noGrp="1"/>
          </p:cNvSpPr>
          <p:nvPr>
            <p:ph type="ftr" sz="quarter" idx="11"/>
          </p:nvPr>
        </p:nvSpPr>
        <p:spPr/>
        <p:txBody>
          <a:bodyPr rtlCol="0"/>
          <a:lstStyle>
            <a:lvl1pPr lvl="0"/>
          </a:lstStyle>
          <a:p>
            <a:r>
              <a:rPr lang="en-US"/>
              <a:t>Footer</a:t>
            </a:r>
          </a:p>
        </p:txBody>
      </p:sp>
      <p:sp>
        <p:nvSpPr>
          <p:cNvPr id="6" name="Slide Number Placeholder 5"/>
          <p:cNvSpPr>
            <a:spLocks noGrp="1"/>
          </p:cNvSpPr>
          <p:nvPr>
            <p:ph type="sldNum" sz="quarter" idx="12"/>
          </p:nvPr>
        </p:nvSpPr>
        <p:spPr/>
        <p:txBody>
          <a:bodyPr rtlCol="0"/>
          <a:lstStyle>
            <a:lvl1pPr lvl="0"/>
          </a:lstStyle>
          <a:p>
            <a:r>
              <a:rPr lang="en-US"/>
              <a:t>&lt;#&gt;</a:t>
            </a:r>
          </a:p>
        </p:txBody>
      </p:sp>
      <p:sp>
        <p:nvSpPr>
          <p:cNvPr id="7" name="Date Placeholder 3"/>
          <p:cNvSpPr>
            <a:spLocks noGrp="1"/>
          </p:cNvSpPr>
          <p:nvPr>
            <p:ph type="dt" sz="half" idx="10"/>
          </p:nvPr>
        </p:nvSpPr>
        <p:spPr/>
        <p:txBody>
          <a:bodyPr rtlCol="0"/>
          <a:lstStyle>
            <a:lvl1pPr lvl="0"/>
          </a:lstStyle>
          <a:p>
            <a:r>
              <a:rPr lang="en-US"/>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Content Placeholder 2"/>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a:t>Click to edit Master text styles</a:t>
            </a:r>
          </a:p>
        </p:txBody>
      </p:sp>
      <p:sp>
        <p:nvSpPr>
          <p:cNvPr id="3" name="Date Placeholder 2"/>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ADCE28B6-DBFE-4620-B95B-46D05A4EFA88}" type="datetime1">
              <a:rPr lang="en-US"/>
              <a:t>8/13/2026</a:t>
            </a:fld>
            <a:endParaRPr lang="en-US"/>
          </a:p>
        </p:txBody>
      </p:sp>
      <p:sp>
        <p:nvSpPr>
          <p:cNvPr id="4" name="Footer Placeholder 3"/>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DL&amp;CO                                                                G.LAVARAJU, Associate Professor, CSE</a:t>
            </a:r>
          </a:p>
        </p:txBody>
      </p:sp>
      <p:pic>
        <p:nvPicPr>
          <p:cNvPr id="5" name="Picture 2"/>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6" name="Slide Number Placeholder 3"/>
          <p:cNvSpPr>
            <a:spLocks noGrp="1"/>
          </p:cNvSpPr>
          <p:nvPr>
            <p:ph type="sldNum" sz="quarter" idx="3"/>
          </p:nvPr>
        </p:nvSpPr>
        <p:spPr>
          <a:xfrm>
            <a:off x="10272464" y="6356350"/>
            <a:ext cx="1081336" cy="365125"/>
          </a:xfrm>
        </p:spPr>
        <p:txBody>
          <a:bodyPr rtlCol="0"/>
          <a:lstStyle/>
          <a:p>
            <a:fld id="{9359D16F-76A5-41BA-ADDD-CBF352B33DDD}" type="slidenum">
              <a:r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3" name="Date Placeholder 2"/>
          <p:cNvSpPr>
            <a:spLocks noGrp="1"/>
          </p:cNvSpPr>
          <p:nvPr>
            <p:ph type="dt" sz="half" idx="10"/>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B13D2877-58CC-4844-975B-B8D6496C43E9}" type="datetime1">
              <a:rPr lang="en-US"/>
              <a:t>8/13/2026</a:t>
            </a:fld>
            <a:endParaRPr lang="en-US"/>
          </a:p>
        </p:txBody>
      </p:sp>
      <p:sp>
        <p:nvSpPr>
          <p:cNvPr id="4" name="Footer Placeholder 3"/>
          <p:cNvSpPr>
            <a:spLocks noGrp="1"/>
          </p:cNvSpPr>
          <p:nvPr>
            <p:ph type="ftr" sz="quarter" idx="11"/>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DL&amp;CO                                                                G.LAVARAJU, Associate Professor, CSE</a:t>
            </a:r>
          </a:p>
        </p:txBody>
      </p:sp>
      <p:sp>
        <p:nvSpPr>
          <p:cNvPr id="5" name="Slide Number Placeholder 3"/>
          <p:cNvSpPr>
            <a:spLocks noGrp="1"/>
          </p:cNvSpPr>
          <p:nvPr>
            <p:ph type="sldNum" sz="quarter" idx="12"/>
          </p:nvPr>
        </p:nvSpPr>
        <p:spPr>
          <a:xfrm>
            <a:off x="10272464" y="6356350"/>
            <a:ext cx="1081336" cy="365125"/>
          </a:xfrm>
        </p:spPr>
        <p:txBody>
          <a:bodyPr rtlCol="0"/>
          <a:lstStyle/>
          <a:p>
            <a:fld id="{D9C5B093-D3DD-4808-813A-F58BF8E67773}" type="slidenum">
              <a:r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A0623D07-B41D-4865-9117-A59235B241FC}" type="datetime1">
              <a:rPr lang="en-US"/>
              <a:t>8/13/2026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a:t>DL&amp;CO                                                                G.LAVARAJU, Associate Professor,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C0FA9481-3A84-418C-9FCC-1F8C2D158F80}" type="slidenum">
              <a:r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Char char="•"/>
        <a:defRPr lang="en-US" sz="2800" dirty="0">
          <a:solidFill>
            <a:schemeClr val="tx1"/>
          </a:solidFill>
          <a:latin typeface="+mn-lt"/>
        </a:defRPr>
      </a:lvl1pPr>
      <a:lvl2pPr marL="685800" lvl="1" indent="-228600" algn="l" rtl="0">
        <a:lnSpc>
          <a:spcPct val="90000"/>
        </a:lnSpc>
        <a:spcBef>
          <a:spcPts val="500"/>
        </a:spcBef>
        <a:buChar char="•"/>
        <a:defRPr lang="en-US" sz="2400" dirty="0">
          <a:solidFill>
            <a:schemeClr val="tx1"/>
          </a:solidFill>
          <a:latin typeface="+mn-lt"/>
        </a:defRPr>
      </a:lvl2pPr>
      <a:lvl3pPr marL="1143000" lvl="2" indent="-228600" algn="l" rtl="0">
        <a:lnSpc>
          <a:spcPct val="90000"/>
        </a:lnSpc>
        <a:spcBef>
          <a:spcPts val="500"/>
        </a:spcBef>
        <a:buChar char="•"/>
        <a:defRPr lang="en-US" sz="2000" dirty="0">
          <a:solidFill>
            <a:schemeClr val="tx1"/>
          </a:solidFill>
          <a:latin typeface="+mn-lt"/>
        </a:defRPr>
      </a:lvl3pPr>
      <a:lvl4pPr marL="1600200" lvl="3" indent="-228600" algn="l" rtl="0">
        <a:lnSpc>
          <a:spcPct val="90000"/>
        </a:lnSpc>
        <a:spcBef>
          <a:spcPts val="500"/>
        </a:spcBef>
        <a:buChar char="•"/>
        <a:defRPr lang="en-US" sz="1800" dirty="0">
          <a:solidFill>
            <a:schemeClr val="tx1"/>
          </a:solidFill>
          <a:latin typeface="+mn-lt"/>
        </a:defRPr>
      </a:lvl4pPr>
      <a:lvl5pPr marL="2057400" lvl="4" indent="-228600" algn="l" rtl="0">
        <a:lnSpc>
          <a:spcPct val="90000"/>
        </a:lnSpc>
        <a:spcBef>
          <a:spcPts val="500"/>
        </a:spcBef>
        <a:buChar char="•"/>
        <a:defRPr lang="en-US" sz="1800" dirty="0">
          <a:solidFill>
            <a:schemeClr val="tx1"/>
          </a:solidFill>
          <a:latin typeface="+mn-lt"/>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1"/>
          <p:cNvSpPr txBox="1"/>
          <p:nvPr/>
        </p:nvSpPr>
        <p:spPr>
          <a:xfrm>
            <a:off x="1143000" y="1645920"/>
            <a:ext cx="10544212" cy="1360325"/>
          </a:xfrm>
          <a:prstGeom prst="rect">
            <a:avLst/>
          </a:prstGeom>
        </p:spPr>
        <p:txBody>
          <a:bodyPr vert="horz" lIns="91440" tIns="45720" rIns="91440" bIns="45720" rtlCol="0" anchor="b">
            <a:noAutofit/>
          </a:bodyPr>
          <a:lstStyle/>
          <a:p>
            <a:pPr algn="ctr">
              <a:lnSpc>
                <a:spcPct val="90000"/>
              </a:lnSpc>
              <a:spcBef>
                <a:spcPct val="0"/>
              </a:spcBef>
            </a:pPr>
            <a:r>
              <a:rPr lang="en-GB" sz="3200" dirty="0">
                <a:solidFill>
                  <a:srgbClr val="0070C0"/>
                </a:solidFill>
                <a:latin typeface="Bookman Old Style" panose="02050604050505020204" pitchFamily="18" charset="0"/>
                <a:ea typeface="ADLaM Display" panose="02010000000000000000" pitchFamily="2" charset="0"/>
                <a:cs typeface="ADLaM Display" panose="02010000000000000000" pitchFamily="2" charset="0"/>
              </a:rPr>
              <a:t>MCA III SEMESTER</a:t>
            </a:r>
          </a:p>
          <a:p>
            <a:pPr algn="ctr">
              <a:lnSpc>
                <a:spcPct val="90000"/>
              </a:lnSpc>
              <a:spcBef>
                <a:spcPct val="0"/>
              </a:spcBef>
            </a:pPr>
            <a:r>
              <a:rPr lang="en-GB" sz="3200" dirty="0">
                <a:solidFill>
                  <a:srgbClr val="0070C0"/>
                </a:solidFill>
                <a:latin typeface="Bookman Old Style" panose="02050604050505020204" pitchFamily="18" charset="0"/>
                <a:ea typeface="ADLaM Display" panose="02010000000000000000" pitchFamily="2" charset="0"/>
                <a:cs typeface="ADLaM Display" panose="02010000000000000000" pitchFamily="2" charset="0"/>
              </a:rPr>
              <a:t>Summer Internship</a:t>
            </a:r>
          </a:p>
          <a:p>
            <a:pPr algn="ctr">
              <a:lnSpc>
                <a:spcPct val="90000"/>
              </a:lnSpc>
              <a:spcBef>
                <a:spcPct val="0"/>
              </a:spcBef>
            </a:pPr>
            <a:r>
              <a:rPr lang="en-GB" sz="3200" dirty="0">
                <a:solidFill>
                  <a:srgbClr val="0070C0"/>
                </a:solidFill>
                <a:latin typeface="Bookman Old Style" panose="02050604050505020204" pitchFamily="18" charset="0"/>
                <a:ea typeface="ADLaM Display" panose="02010000000000000000" pitchFamily="2" charset="0"/>
                <a:cs typeface="ADLaM Display" panose="02010000000000000000" pitchFamily="2" charset="0"/>
              </a:rPr>
              <a:t>(16/05/2026 to 27/07/2026)</a:t>
            </a:r>
          </a:p>
        </p:txBody>
      </p:sp>
      <p:sp>
        <p:nvSpPr>
          <p:cNvPr id="5" name="Title 1"/>
          <p:cNvSpPr txBox="1"/>
          <p:nvPr/>
        </p:nvSpPr>
        <p:spPr>
          <a:xfrm>
            <a:off x="1143000" y="2853018"/>
            <a:ext cx="10696612" cy="936104"/>
          </a:xfrm>
          <a:prstGeom prst="rect">
            <a:avLst/>
          </a:prstGeom>
        </p:spPr>
        <p:txBody>
          <a:bodyPr vert="horz" lIns="91440" tIns="45720" rIns="91440" bIns="45720" rtlCol="0" anchor="b">
            <a:noAutofit/>
          </a:bodyPr>
          <a:lstStyle/>
          <a:p>
            <a:pPr algn="ctr">
              <a:lnSpc>
                <a:spcPct val="90000"/>
              </a:lnSpc>
              <a:spcBef>
                <a:spcPct val="0"/>
              </a:spcBef>
            </a:pPr>
            <a:r>
              <a:rPr lang="en-GB" sz="4400" dirty="0">
                <a:solidFill>
                  <a:srgbClr val="C00000"/>
                </a:solidFill>
                <a:latin typeface="Bookman Old Style" panose="02050604050505020204"/>
                <a:ea typeface="ADLaM Display"/>
                <a:cs typeface="ADLaM Display"/>
              </a:rPr>
              <a:t>Review  </a:t>
            </a:r>
            <a:r>
              <a:rPr lang="en-GB" sz="4400">
                <a:solidFill>
                  <a:srgbClr val="C00000"/>
                </a:solidFill>
                <a:latin typeface="Bookman Old Style" panose="02050604050505020204"/>
                <a:ea typeface="ADLaM Display"/>
                <a:cs typeface="ADLaM Display"/>
              </a:rPr>
              <a:t>- 13-08-2026</a:t>
            </a:r>
            <a:endParaRPr lang="en-GB" sz="4400" dirty="0">
              <a:solidFill>
                <a:srgbClr val="C00000"/>
              </a:solidFill>
              <a:latin typeface="Bookman Old Style" panose="02050604050505020204"/>
              <a:ea typeface="ADLaM Display"/>
              <a:cs typeface="ADLaM Display"/>
            </a:endParaRPr>
          </a:p>
        </p:txBody>
      </p:sp>
      <p:sp>
        <p:nvSpPr>
          <p:cNvPr id="4" name="Title 1"/>
          <p:cNvSpPr txBox="1"/>
          <p:nvPr/>
        </p:nvSpPr>
        <p:spPr>
          <a:xfrm>
            <a:off x="990600" y="3966845"/>
            <a:ext cx="10696612" cy="936104"/>
          </a:xfrm>
          <a:prstGeom prst="rect">
            <a:avLst/>
          </a:prstGeom>
        </p:spPr>
        <p:txBody>
          <a:bodyPr vert="horz" lIns="91440" tIns="45720" rIns="91440" bIns="45720" rtlCol="0" anchor="b">
            <a:noAutofit/>
          </a:bodyPr>
          <a:lstStyle/>
          <a:p>
            <a:pPr lvl="0" algn="ctr">
              <a:lnSpc>
                <a:spcPct val="90000"/>
              </a:lnSpc>
              <a:spcBef>
                <a:spcPct val="0"/>
              </a:spcBef>
            </a:pPr>
            <a:r>
              <a:rPr lang="en-GB" sz="2400" dirty="0">
                <a:solidFill>
                  <a:srgbClr val="C00000"/>
                </a:solidFill>
                <a:latin typeface="Bookman Old Style" panose="02050604050505020204" pitchFamily="18" charset="0"/>
              </a:rPr>
              <a:t>CUSTOMER SHOPPING BEHAVIOR ANALYSIS</a:t>
            </a:r>
          </a:p>
        </p:txBody>
      </p:sp>
      <p:sp>
        <p:nvSpPr>
          <p:cNvPr id="6" name="Title 1"/>
          <p:cNvSpPr txBox="1"/>
          <p:nvPr/>
        </p:nvSpPr>
        <p:spPr>
          <a:xfrm>
            <a:off x="436609" y="5223357"/>
            <a:ext cx="3535680" cy="936104"/>
          </a:xfrm>
          <a:prstGeom prst="rect">
            <a:avLst/>
          </a:prstGeom>
        </p:spPr>
        <p:txBody>
          <a:bodyPr vert="horz" lIns="91440" tIns="45720" rIns="91440" bIns="45720" rtlCol="0" anchor="b">
            <a:noAutofit/>
          </a:bodyPr>
          <a:lstStyle/>
          <a:p>
            <a:pPr marL="285750" lvl="0" indent="-285750" algn="ctr">
              <a:lnSpc>
                <a:spcPct val="90000"/>
              </a:lnSpc>
              <a:spcBef>
                <a:spcPct val="0"/>
              </a:spcBef>
            </a:pPr>
            <a:r>
              <a:rPr lang="en-US" altLang="en-US" sz="1600" dirty="0">
                <a:solidFill>
                  <a:srgbClr val="C00000"/>
                </a:solidFill>
                <a:latin typeface="Bookman Old Style" panose="02050604050505020204" pitchFamily="18" charset="0"/>
                <a:ea typeface="ADLaM Display" panose="02010000000000000000" pitchFamily="2" charset="0"/>
                <a:cs typeface="ADLaM Display" panose="02010000000000000000" pitchFamily="2" charset="0"/>
              </a:rPr>
              <a:t>K. Siva Sai Kishore,</a:t>
            </a:r>
          </a:p>
          <a:p>
            <a:pPr marL="285750" lvl="0" indent="-285750" algn="ctr">
              <a:lnSpc>
                <a:spcPct val="90000"/>
              </a:lnSpc>
              <a:spcBef>
                <a:spcPct val="0"/>
              </a:spcBef>
            </a:pPr>
            <a:r>
              <a:rPr lang="en-US" altLang="en-US" sz="1600" dirty="0">
                <a:solidFill>
                  <a:srgbClr val="C00000"/>
                </a:solidFill>
                <a:latin typeface="Bookman Old Style" panose="02050604050505020204" pitchFamily="18" charset="0"/>
                <a:ea typeface="ADLaM Display" panose="02010000000000000000" pitchFamily="2" charset="0"/>
                <a:cs typeface="ADLaM Display" panose="02010000000000000000" pitchFamily="2" charset="0"/>
              </a:rPr>
              <a:t>Assistant Professor</a:t>
            </a:r>
          </a:p>
        </p:txBody>
      </p:sp>
      <p:sp>
        <p:nvSpPr>
          <p:cNvPr id="8" name="Title 1"/>
          <p:cNvSpPr txBox="1"/>
          <p:nvPr/>
        </p:nvSpPr>
        <p:spPr>
          <a:xfrm>
            <a:off x="6452171" y="5493385"/>
            <a:ext cx="5449671" cy="936104"/>
          </a:xfrm>
          <a:prstGeom prst="rect">
            <a:avLst/>
          </a:prstGeom>
        </p:spPr>
        <p:txBody>
          <a:bodyPr vert="horz" lIns="91440" tIns="45720" rIns="91440" bIns="45720" rtlCol="0" anchor="b">
            <a:noAutofit/>
          </a:bodyPr>
          <a:lstStyle/>
          <a:p>
            <a:pPr lvl="0" indent="0" algn="ctr">
              <a:lnSpc>
                <a:spcPct val="90000"/>
              </a:lnSpc>
              <a:spcBef>
                <a:spcPct val="0"/>
              </a:spcBef>
              <a:buFont typeface="Arial" panose="020B0604020202020204" pitchFamily="34" charset="0"/>
              <a:buNone/>
            </a:pPr>
            <a:r>
              <a:rPr lang="en-GB" sz="1600" dirty="0">
                <a:solidFill>
                  <a:srgbClr val="C00000"/>
                </a:solidFill>
                <a:latin typeface="Bookman Old Style" panose="02050604050505020204" pitchFamily="18" charset="0"/>
                <a:ea typeface="ADLaM Display" panose="02010000000000000000" pitchFamily="2" charset="0"/>
                <a:cs typeface="ADLaM Display" panose="02010000000000000000" pitchFamily="2" charset="0"/>
              </a:rPr>
              <a:t>KOTHAPALLI USHA RANI – 25M11MC074 - MCA</a:t>
            </a:r>
          </a:p>
        </p:txBody>
      </p:sp>
      <p:sp>
        <p:nvSpPr>
          <p:cNvPr id="9" name="Title 1"/>
          <p:cNvSpPr txBox="1"/>
          <p:nvPr/>
        </p:nvSpPr>
        <p:spPr>
          <a:xfrm>
            <a:off x="894344" y="3771901"/>
            <a:ext cx="10696612" cy="685800"/>
          </a:xfrm>
          <a:prstGeom prst="rect">
            <a:avLst/>
          </a:prstGeom>
        </p:spPr>
        <p:txBody>
          <a:bodyPr vert="horz" lIns="91440" tIns="45720" rIns="91440" bIns="45720" rtlCol="0" anchor="b">
            <a:noAutofit/>
          </a:bodyPr>
          <a:lstStyle/>
          <a:p>
            <a:pPr lvl="0" algn="ctr">
              <a:lnSpc>
                <a:spcPct val="90000"/>
              </a:lnSpc>
              <a:spcBef>
                <a:spcPct val="0"/>
              </a:spcBef>
            </a:pPr>
            <a:r>
              <a:rPr lang="en-GB" sz="2800" dirty="0">
                <a:solidFill>
                  <a:srgbClr val="0070C0"/>
                </a:solidFill>
                <a:latin typeface="Bookman Old Style" panose="02050604050505020204" pitchFamily="18" charset="0"/>
                <a:ea typeface="ADLaM Display" panose="02010000000000000000" pitchFamily="2" charset="0"/>
                <a:cs typeface="ADLaM Display" panose="02010000000000000000" pitchFamily="2" charset="0"/>
              </a:rPr>
              <a:t>Department of Computer Applications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1163290"/>
            <a:ext cx="10515600" cy="4531419"/>
          </a:xfrm>
        </p:spPr>
        <p:txBody>
          <a:bodyPr vert="horz" lIns="91440" tIns="45720" rIns="91440" bIns="45720" rtlCol="0" anchor="t">
            <a:normAutofit/>
          </a:bodyPr>
          <a:lstStyle/>
          <a:p>
            <a:pPr algn="ctr"/>
            <a:r>
              <a:rPr lang="en-US" sz="4000" b="1" dirty="0">
                <a:solidFill>
                  <a:schemeClr val="accent2">
                    <a:lumMod val="75000"/>
                  </a:schemeClr>
                </a:solidFill>
                <a:latin typeface="Times New Roman" panose="02020603050405020304" pitchFamily="18" charset="0"/>
                <a:ea typeface="Calibri" panose="020F0502020204030204"/>
                <a:cs typeface="Times New Roman" panose="02020603050405020304" pitchFamily="18" charset="0"/>
              </a:rPr>
              <a:t>Contents</a:t>
            </a:r>
          </a:p>
          <a:p>
            <a:pPr marL="0" lvl="0" eaLnBrk="0" fontAlgn="base" hangingPunct="0">
              <a:lnSpc>
                <a:spcPct val="160000"/>
              </a:lnSpc>
              <a:spcBef>
                <a:spcPct val="0"/>
              </a:spcBef>
              <a:spcAft>
                <a:spcPct val="0"/>
              </a:spcAft>
              <a:buFontTx/>
              <a:buChar char="•"/>
            </a:pPr>
            <a:r>
              <a:rPr lang="en-US" altLang="en-US" sz="2000" b="1" dirty="0">
                <a:solidFill>
                  <a:schemeClr val="accent2">
                    <a:lumMod val="75000"/>
                  </a:schemeClr>
                </a:solidFill>
                <a:latin typeface="Times New Roman" panose="02020603050405020304" pitchFamily="18" charset="0"/>
                <a:cs typeface="Times New Roman" panose="02020603050405020304" pitchFamily="18" charset="0"/>
              </a:rPr>
              <a:t>Abstract / Project Overview</a:t>
            </a:r>
          </a:p>
          <a:p>
            <a:pPr marL="0" lvl="0" eaLnBrk="0" fontAlgn="base" hangingPunct="0">
              <a:lnSpc>
                <a:spcPct val="160000"/>
              </a:lnSpc>
              <a:spcBef>
                <a:spcPct val="0"/>
              </a:spcBef>
              <a:spcAft>
                <a:spcPct val="0"/>
              </a:spcAft>
              <a:buFontTx/>
              <a:buChar char="•"/>
            </a:pPr>
            <a:r>
              <a:rPr lang="en-US" altLang="en-US" sz="2000" b="1" dirty="0">
                <a:solidFill>
                  <a:schemeClr val="accent2">
                    <a:lumMod val="75000"/>
                  </a:schemeClr>
                </a:solidFill>
                <a:latin typeface="Times New Roman" panose="02020603050405020304" pitchFamily="18" charset="0"/>
                <a:cs typeface="Times New Roman" panose="02020603050405020304" pitchFamily="18" charset="0"/>
              </a:rPr>
              <a:t>Organization &amp; Internship Details</a:t>
            </a:r>
          </a:p>
          <a:p>
            <a:pPr marL="0" lvl="0" eaLnBrk="0" fontAlgn="base" hangingPunct="0">
              <a:lnSpc>
                <a:spcPct val="160000"/>
              </a:lnSpc>
              <a:spcBef>
                <a:spcPct val="0"/>
              </a:spcBef>
              <a:spcAft>
                <a:spcPct val="0"/>
              </a:spcAft>
              <a:buFontTx/>
              <a:buChar char="•"/>
            </a:pPr>
            <a:r>
              <a:rPr lang="en-US" altLang="en-US" sz="2000" b="1" dirty="0">
                <a:solidFill>
                  <a:schemeClr val="accent2">
                    <a:lumMod val="75000"/>
                  </a:schemeClr>
                </a:solidFill>
                <a:latin typeface="Times New Roman" panose="02020603050405020304" pitchFamily="18" charset="0"/>
                <a:cs typeface="Times New Roman" panose="02020603050405020304" pitchFamily="18" charset="0"/>
              </a:rPr>
              <a:t>Objectives &amp; Learning Outcomes</a:t>
            </a:r>
          </a:p>
          <a:p>
            <a:pPr marL="0" lvl="0" eaLnBrk="0" fontAlgn="base" hangingPunct="0">
              <a:lnSpc>
                <a:spcPct val="160000"/>
              </a:lnSpc>
              <a:spcBef>
                <a:spcPct val="0"/>
              </a:spcBef>
              <a:spcAft>
                <a:spcPct val="0"/>
              </a:spcAft>
              <a:buFontTx/>
              <a:buChar char="•"/>
            </a:pPr>
            <a:r>
              <a:rPr lang="en-US" altLang="en-US" sz="2000" b="1" dirty="0">
                <a:solidFill>
                  <a:schemeClr val="accent2">
                    <a:lumMod val="75000"/>
                  </a:schemeClr>
                </a:solidFill>
                <a:latin typeface="Times New Roman" panose="02020603050405020304" pitchFamily="18" charset="0"/>
                <a:cs typeface="Times New Roman" panose="02020603050405020304" pitchFamily="18" charset="0"/>
              </a:rPr>
              <a:t>Tools &amp; Technologies Used</a:t>
            </a:r>
          </a:p>
          <a:p>
            <a:pPr marL="0" lvl="0" eaLnBrk="0" fontAlgn="base" hangingPunct="0">
              <a:lnSpc>
                <a:spcPct val="160000"/>
              </a:lnSpc>
              <a:spcBef>
                <a:spcPct val="0"/>
              </a:spcBef>
              <a:spcAft>
                <a:spcPct val="0"/>
              </a:spcAft>
              <a:buFontTx/>
              <a:buChar char="•"/>
            </a:pPr>
            <a:r>
              <a:rPr lang="en-US" altLang="en-US" sz="2000" b="1" dirty="0">
                <a:solidFill>
                  <a:schemeClr val="accent2">
                    <a:lumMod val="75000"/>
                  </a:schemeClr>
                </a:solidFill>
                <a:latin typeface="Times New Roman" panose="02020603050405020304" pitchFamily="18" charset="0"/>
                <a:cs typeface="Times New Roman" panose="02020603050405020304" pitchFamily="18" charset="0"/>
              </a:rPr>
              <a:t>Implementation / Tasks Performed</a:t>
            </a:r>
          </a:p>
          <a:p>
            <a:pPr marL="0" lvl="0" eaLnBrk="0" fontAlgn="base" hangingPunct="0">
              <a:lnSpc>
                <a:spcPct val="160000"/>
              </a:lnSpc>
              <a:spcBef>
                <a:spcPct val="0"/>
              </a:spcBef>
              <a:spcAft>
                <a:spcPct val="0"/>
              </a:spcAft>
              <a:buFontTx/>
              <a:buChar char="•"/>
            </a:pPr>
            <a:r>
              <a:rPr lang="en-US" altLang="en-US" sz="2000" b="1" dirty="0">
                <a:solidFill>
                  <a:schemeClr val="accent2">
                    <a:lumMod val="75000"/>
                  </a:schemeClr>
                </a:solidFill>
                <a:latin typeface="Times New Roman" panose="02020603050405020304" pitchFamily="18" charset="0"/>
                <a:cs typeface="Times New Roman" panose="02020603050405020304" pitchFamily="18" charset="0"/>
              </a:rPr>
              <a:t>Key Findings &amp; Business Recommendations</a:t>
            </a:r>
          </a:p>
          <a:p>
            <a:pPr marL="0" lvl="0" eaLnBrk="0" fontAlgn="base" hangingPunct="0">
              <a:lnSpc>
                <a:spcPct val="160000"/>
              </a:lnSpc>
              <a:spcBef>
                <a:spcPct val="0"/>
              </a:spcBef>
              <a:spcAft>
                <a:spcPct val="0"/>
              </a:spcAft>
              <a:buFontTx/>
              <a:buChar char="•"/>
            </a:pPr>
            <a:r>
              <a:rPr lang="en-US" altLang="en-US" sz="2000" b="1" dirty="0">
                <a:solidFill>
                  <a:schemeClr val="accent2">
                    <a:lumMod val="75000"/>
                  </a:schemeClr>
                </a:solidFill>
                <a:latin typeface="Times New Roman" panose="02020603050405020304" pitchFamily="18" charset="0"/>
                <a:cs typeface="Times New Roman" panose="02020603050405020304" pitchFamily="18" charset="0"/>
              </a:rPr>
              <a:t>Conclusion &amp; Future Learning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869315" y="1099335"/>
            <a:ext cx="10515600" cy="4994125"/>
          </a:xfrm>
        </p:spPr>
        <p:txBody>
          <a:bodyPr>
            <a:normAutofit fontScale="97500"/>
          </a:bodyPr>
          <a:lstStyle/>
          <a:p>
            <a:pPr marL="0" lvl="0" algn="ctr" eaLnBrk="0" fontAlgn="base" hangingPunct="0">
              <a:lnSpc>
                <a:spcPct val="160000"/>
              </a:lnSpc>
              <a:spcBef>
                <a:spcPct val="0"/>
              </a:spcBef>
              <a:spcAft>
                <a:spcPct val="0"/>
              </a:spcAft>
              <a:buFontTx/>
            </a:pPr>
            <a:r>
              <a:rPr altLang="en-US" sz="2500" b="1" dirty="0">
                <a:solidFill>
                  <a:schemeClr val="accent2">
                    <a:lumMod val="75000"/>
                  </a:schemeClr>
                </a:solidFill>
                <a:latin typeface="Times New Roman" panose="02020603050405020304" pitchFamily="18" charset="0"/>
                <a:cs typeface="Times New Roman" panose="02020603050405020304" pitchFamily="18" charset="0"/>
                <a:sym typeface="+mn-ea"/>
              </a:rPr>
              <a:t>Abstract / Project Overview</a:t>
            </a:r>
          </a:p>
          <a:p>
            <a:pPr marL="0" lvl="0" algn="l" eaLnBrk="0" fontAlgn="base" hangingPunct="0">
              <a:lnSpc>
                <a:spcPct val="160000"/>
              </a:lnSpc>
              <a:spcBef>
                <a:spcPct val="0"/>
              </a:spcBef>
              <a:spcAft>
                <a:spcPct val="0"/>
              </a:spcAft>
              <a:buFontTx/>
            </a:pPr>
            <a:r>
              <a:rPr lang="en-US" altLang="en-US" sz="1800" dirty="0">
                <a:ln/>
                <a:solidFill>
                  <a:schemeClr val="tx1"/>
                </a:solidFill>
                <a:latin typeface="Times New Roman" panose="02020603050405020304" charset="0"/>
                <a:cs typeface="Times New Roman" panose="02020603050405020304" charset="0"/>
                <a:sym typeface="+mn-ea"/>
              </a:rPr>
              <a:t>Customer Shopping Behavior Analysis was developed as the primary project during my internship at CODTECH IT Solutions Pvt. Ltd. The project provides practical experience in the complete Data Analytics workflow, from data preparation and business analysis to interactive visualization. The objective was to analyze 3,900 retail transactions and identify spending patterns, customer segments, product preferences, subscription trends and factors influencing purchasing behavior.</a:t>
            </a:r>
          </a:p>
          <a:p>
            <a:pPr marL="0" lvl="0" algn="l" eaLnBrk="0" fontAlgn="base" hangingPunct="0">
              <a:lnSpc>
                <a:spcPct val="160000"/>
              </a:lnSpc>
              <a:spcBef>
                <a:spcPct val="0"/>
              </a:spcBef>
              <a:spcAft>
                <a:spcPct val="0"/>
              </a:spcAft>
              <a:buFontTx/>
            </a:pPr>
            <a:endParaRPr lang="en-US" altLang="en-US" sz="1800" dirty="0">
              <a:ln/>
              <a:solidFill>
                <a:schemeClr val="tx1"/>
              </a:solidFill>
              <a:latin typeface="Times New Roman" panose="02020603050405020304" charset="0"/>
              <a:cs typeface="Times New Roman" panose="02020603050405020304" charset="0"/>
              <a:sym typeface="+mn-ea"/>
            </a:endParaRPr>
          </a:p>
          <a:p>
            <a:pPr marL="0" lvl="0" algn="l" eaLnBrk="0" fontAlgn="base" hangingPunct="0">
              <a:lnSpc>
                <a:spcPct val="160000"/>
              </a:lnSpc>
              <a:spcBef>
                <a:spcPct val="0"/>
              </a:spcBef>
              <a:spcAft>
                <a:spcPct val="0"/>
              </a:spcAft>
              <a:buFontTx/>
            </a:pPr>
            <a:r>
              <a:rPr lang="en-US" altLang="en-US" sz="1800" dirty="0">
                <a:ln/>
                <a:solidFill>
                  <a:schemeClr val="tx1"/>
                </a:solidFill>
                <a:latin typeface="Times New Roman" panose="02020603050405020304" charset="0"/>
                <a:cs typeface="Times New Roman" panose="02020603050405020304" charset="0"/>
                <a:sym typeface="+mn-ea"/>
              </a:rPr>
              <a:t>The solution used MS Excel, Python (Pandas), PostgreSQL/SQL and Power BI to transform raw transactional data into meaningful business insights for customer engagement, marketing optimization and data-driven decision-making.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02055" y="1089061"/>
            <a:ext cx="9533255" cy="4981539"/>
          </a:xfrm>
          <a:prstGeom prst="rect">
            <a:avLst/>
          </a:prstGeom>
          <a:noFill/>
        </p:spPr>
        <p:txBody>
          <a:bodyPr wrap="square" rtlCol="0">
            <a:noAutofit/>
          </a:bodyPr>
          <a:lstStyle/>
          <a:p>
            <a:pPr algn="ctr"/>
            <a:r>
              <a:rPr lang="en-GB" altLang="en-US" sz="2400" b="1" dirty="0">
                <a:solidFill>
                  <a:schemeClr val="accent2">
                    <a:lumMod val="75000"/>
                  </a:schemeClr>
                </a:solidFill>
                <a:latin typeface="Times New Roman" panose="02020603050405020304" pitchFamily="18" charset="0"/>
                <a:cs typeface="Times New Roman" panose="02020603050405020304" pitchFamily="18" charset="0"/>
                <a:sym typeface="+mn-ea"/>
              </a:rPr>
              <a:t>Organization &amp; Internship Details</a:t>
            </a:r>
          </a:p>
          <a:p>
            <a:endParaRPr lang="en-GB" altLang="en-US" sz="2000" b="1" dirty="0">
              <a:solidFill>
                <a:schemeClr val="accent2">
                  <a:lumMod val="75000"/>
                </a:schemeClr>
              </a:solidFill>
              <a:latin typeface="Times New Roman" panose="02020603050405020304" pitchFamily="18" charset="0"/>
              <a:cs typeface="Times New Roman" panose="02020603050405020304" pitchFamily="18" charset="0"/>
              <a:sym typeface="+mn-ea"/>
            </a:endParaRPr>
          </a:p>
          <a:p>
            <a:pPr>
              <a:lnSpc>
                <a:spcPct val="150000"/>
              </a:lnSpc>
            </a:pP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Codtech</a:t>
            </a:r>
            <a:r>
              <a:rPr lang="en-US" altLang="en-US" dirty="0">
                <a:latin typeface="Times New Roman" panose="02020603050405020304" pitchFamily="18" charset="0"/>
                <a:cs typeface="Times New Roman" panose="02020603050405020304" pitchFamily="18" charset="0"/>
              </a:rPr>
              <a:t> IT Solutions Pvt. Ltd. – an IT company based in Hyderabad, Telangana</a:t>
            </a:r>
          </a:p>
          <a:p>
            <a:pPr>
              <a:lnSpc>
                <a:spcPct val="150000"/>
              </a:lnSpc>
            </a:pPr>
            <a:r>
              <a:rPr lang="en-US" altLang="en-US" dirty="0">
                <a:latin typeface="Times New Roman" panose="02020603050405020304" pitchFamily="18" charset="0"/>
                <a:cs typeface="Times New Roman" panose="02020603050405020304" pitchFamily="18" charset="0"/>
              </a:rPr>
              <a:t>• Provides software development services, training programs and internships in ML, Data Science, Web Development and Cloud Computing</a:t>
            </a:r>
          </a:p>
          <a:p>
            <a:pPr>
              <a:lnSpc>
                <a:spcPct val="150000"/>
              </a:lnSpc>
            </a:pPr>
            <a:r>
              <a:rPr lang="en-US" altLang="en-US" dirty="0">
                <a:latin typeface="Times New Roman" panose="02020603050405020304" pitchFamily="18" charset="0"/>
                <a:cs typeface="Times New Roman" panose="02020603050405020304" pitchFamily="18" charset="0"/>
              </a:rPr>
              <a:t>• ISO 9001 certified, registered under MSME, and a supporter of the Startup India initiative</a:t>
            </a:r>
          </a:p>
          <a:p>
            <a:pPr>
              <a:lnSpc>
                <a:spcPct val="150000"/>
              </a:lnSpc>
            </a:pPr>
            <a:r>
              <a:rPr lang="en-US" altLang="en-US" dirty="0">
                <a:latin typeface="Times New Roman" panose="02020603050405020304" pitchFamily="18" charset="0"/>
                <a:cs typeface="Times New Roman" panose="02020603050405020304" pitchFamily="18" charset="0"/>
              </a:rPr>
              <a:t>• Mission: Provide hands-on, industry-ready training through real-time projects</a:t>
            </a:r>
          </a:p>
          <a:p>
            <a:pPr>
              <a:lnSpc>
                <a:spcPct val="150000"/>
              </a:lnSpc>
            </a:pPr>
            <a:r>
              <a:rPr lang="en-US" altLang="en-US" dirty="0">
                <a:latin typeface="Times New Roman" panose="02020603050405020304" pitchFamily="18" charset="0"/>
                <a:cs typeface="Times New Roman" panose="02020603050405020304" pitchFamily="18" charset="0"/>
              </a:rPr>
              <a:t>• Vision: Bridge the gap between academic learning and industry practice</a:t>
            </a:r>
          </a:p>
          <a:p>
            <a:pPr>
              <a:lnSpc>
                <a:spcPct val="150000"/>
              </a:lnSpc>
            </a:pPr>
            <a:r>
              <a:rPr lang="en-US" altLang="en-US" dirty="0">
                <a:latin typeface="Times New Roman" panose="02020603050405020304" pitchFamily="18" charset="0"/>
                <a:cs typeface="Times New Roman" panose="02020603050405020304" pitchFamily="18" charset="0"/>
              </a:rPr>
              <a:t>• Internship Domain: Data Analytics  |  Duration: 6 Weeks (16 May 2026 – 27 June 2026)</a:t>
            </a:r>
          </a:p>
          <a:p>
            <a:pPr>
              <a:lnSpc>
                <a:spcPct val="150000"/>
              </a:lnSpc>
            </a:pPr>
            <a:r>
              <a:rPr lang="en-US" altLang="en-US" dirty="0">
                <a:latin typeface="Times New Roman" panose="02020603050405020304" pitchFamily="18" charset="0"/>
                <a:cs typeface="Times New Roman" panose="02020603050405020304" pitchFamily="18" charset="0"/>
              </a:rPr>
              <a:t>• Guide: </a:t>
            </a:r>
            <a:r>
              <a:rPr lang="en-US" altLang="en-US" dirty="0" err="1">
                <a:latin typeface="Times New Roman" panose="02020603050405020304" pitchFamily="18" charset="0"/>
                <a:cs typeface="Times New Roman" panose="02020603050405020304" pitchFamily="18" charset="0"/>
              </a:rPr>
              <a:t>K.Siva</a:t>
            </a:r>
            <a:r>
              <a:rPr lang="en-US" altLang="en-US" dirty="0">
                <a:latin typeface="Times New Roman" panose="02020603050405020304" pitchFamily="18" charset="0"/>
                <a:cs typeface="Times New Roman" panose="02020603050405020304" pitchFamily="18" charset="0"/>
              </a:rPr>
              <a:t> Sai Kishore, Assistant Professor, Aditya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380144" y="893852"/>
            <a:ext cx="11517329" cy="5753528"/>
          </a:xfrm>
        </p:spPr>
        <p:txBody>
          <a:bodyPr>
            <a:normAutofit fontScale="47500" lnSpcReduction="20000"/>
          </a:bodyPr>
          <a:lstStyle/>
          <a:p>
            <a:pPr marL="0" lvl="0" algn="ctr" eaLnBrk="0" fontAlgn="base" hangingPunct="0">
              <a:lnSpc>
                <a:spcPct val="160000"/>
              </a:lnSpc>
              <a:spcBef>
                <a:spcPct val="0"/>
              </a:spcBef>
              <a:spcAft>
                <a:spcPct val="0"/>
              </a:spcAft>
              <a:buFontTx/>
            </a:pPr>
            <a:r>
              <a:rPr altLang="en-US" sz="5100" b="1" dirty="0">
                <a:solidFill>
                  <a:schemeClr val="accent2">
                    <a:lumMod val="75000"/>
                  </a:schemeClr>
                </a:solidFill>
                <a:latin typeface="Times New Roman" panose="02020603050405020304" pitchFamily="18" charset="0"/>
                <a:cs typeface="Times New Roman" panose="02020603050405020304" pitchFamily="18" charset="0"/>
                <a:sym typeface="+mn-ea"/>
              </a:rPr>
              <a:t>Objectives &amp; Learning Outcomes</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The project was designed to build practical Data Analytics skills by working with a real-world retail dataset.</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Objectives:</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 Clean and transform customer transaction data.</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 Perform business-oriented SQL analysis.</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 Develop an interactive Power BI dashboard.</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 Identify customer segments, revenue patterns and product preferences.</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 Generate actionable business recommendations.</a:t>
            </a:r>
          </a:p>
          <a:p>
            <a:pPr marL="0" lvl="0" algn="l" eaLnBrk="0" fontAlgn="base" hangingPunct="0">
              <a:lnSpc>
                <a:spcPct val="160000"/>
              </a:lnSpc>
              <a:spcBef>
                <a:spcPct val="0"/>
              </a:spcBef>
              <a:spcAft>
                <a:spcPct val="0"/>
              </a:spcAft>
              <a:buFontTx/>
            </a:pPr>
            <a:endParaRPr lang="en-US" altLang="en-US" sz="3300" dirty="0">
              <a:ln/>
              <a:solidFill>
                <a:schemeClr val="tx1"/>
              </a:solidFill>
              <a:latin typeface="Times New Roman" panose="02020603050405020304" charset="0"/>
              <a:cs typeface="Times New Roman" panose="02020603050405020304" charset="0"/>
              <a:sym typeface="+mn-ea"/>
            </a:endParaRP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Learning Outcomes:</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 Improved Python/Pandas data preparation and feature engineering.</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 Practical PostgreSQL/SQL analysis experience.</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 Power BI, DAX, KPI and visualization skills.</a:t>
            </a:r>
          </a:p>
          <a:p>
            <a:pPr marL="0" lvl="0" algn="l" eaLnBrk="0" fontAlgn="base" hangingPunct="0">
              <a:lnSpc>
                <a:spcPct val="160000"/>
              </a:lnSpc>
              <a:spcBef>
                <a:spcPct val="0"/>
              </a:spcBef>
              <a:spcAft>
                <a:spcPct val="0"/>
              </a:spcAft>
              <a:buFontTx/>
            </a:pPr>
            <a:r>
              <a:rPr lang="en-US" altLang="en-US" sz="3800" dirty="0">
                <a:ln/>
                <a:solidFill>
                  <a:schemeClr val="tx1"/>
                </a:solidFill>
                <a:latin typeface="Times New Roman" panose="02020603050405020304" charset="0"/>
                <a:cs typeface="Times New Roman" panose="02020603050405020304" charset="0"/>
                <a:sym typeface="+mn-ea"/>
              </a:rPr>
              <a:t>• Stronger analytical thinking, documentation and presentation skills.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869315" y="1356188"/>
            <a:ext cx="10515600" cy="4793811"/>
          </a:xfrm>
        </p:spPr>
        <p:txBody>
          <a:bodyPr>
            <a:normAutofit/>
          </a:bodyPr>
          <a:lstStyle/>
          <a:p>
            <a:pPr algn="ctr"/>
            <a:r>
              <a:rPr sz="2400" b="1" dirty="0">
                <a:solidFill>
                  <a:schemeClr val="accent2">
                    <a:lumMod val="75000"/>
                  </a:schemeClr>
                </a:solidFill>
                <a:latin typeface="Times New Roman" panose="02020603050405020304" pitchFamily="18" charset="0"/>
                <a:cs typeface="Times New Roman" panose="02020603050405020304" pitchFamily="18" charset="0"/>
              </a:rPr>
              <a:t>Tools &amp; Technologies Used</a:t>
            </a: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p>
            <a:pPr algn="ctr"/>
            <a:endParaRPr sz="2400" b="1" dirty="0">
              <a:solidFill>
                <a:schemeClr val="accent2">
                  <a:lumMod val="75000"/>
                </a:schemeClr>
              </a:solidFill>
              <a:latin typeface="Times New Roman" panose="02020603050405020304" pitchFamily="18" charset="0"/>
              <a:cs typeface="Times New Roman" panose="02020603050405020304" pitchFamily="18" charset="0"/>
            </a:endParaRPr>
          </a:p>
          <a:p>
            <a:pPr>
              <a:lnSpc>
                <a:spcPct val="100000"/>
              </a:lnSpc>
            </a:pPr>
            <a:r>
              <a:rPr lang="en-US" altLang="en-US" sz="1800" dirty="0">
                <a:ln/>
                <a:solidFill>
                  <a:schemeClr val="tx1"/>
                </a:solidFill>
                <a:latin typeface="Times New Roman" panose="02020603050405020304" charset="0"/>
                <a:cs typeface="Times New Roman" panose="02020603050405020304" charset="0"/>
                <a:sym typeface="+mn-ea"/>
              </a:rPr>
              <a:t>• MS Excel – data inspection, sorting, filtering and validation</a:t>
            </a:r>
          </a:p>
          <a:p>
            <a:pPr>
              <a:lnSpc>
                <a:spcPct val="100000"/>
              </a:lnSpc>
            </a:pPr>
            <a:r>
              <a:rPr lang="en-US" altLang="en-US" sz="1800" dirty="0">
                <a:ln/>
                <a:solidFill>
                  <a:schemeClr val="tx1"/>
                </a:solidFill>
                <a:latin typeface="Times New Roman" panose="02020603050405020304" charset="0"/>
                <a:cs typeface="Times New Roman" panose="02020603050405020304" charset="0"/>
                <a:sym typeface="+mn-ea"/>
              </a:rPr>
              <a:t>• Python (Pandas) – data cleaning, preprocessing, EDA and feature engineering</a:t>
            </a:r>
          </a:p>
          <a:p>
            <a:pPr>
              <a:lnSpc>
                <a:spcPct val="100000"/>
              </a:lnSpc>
            </a:pPr>
            <a:r>
              <a:rPr lang="en-US" altLang="en-US" sz="1800" dirty="0">
                <a:ln/>
                <a:solidFill>
                  <a:schemeClr val="tx1"/>
                </a:solidFill>
                <a:latin typeface="Times New Roman" panose="02020603050405020304" charset="0"/>
                <a:cs typeface="Times New Roman" panose="02020603050405020304" charset="0"/>
                <a:sym typeface="+mn-ea"/>
              </a:rPr>
              <a:t>• PostgreSQL / SQL – database integration and business analysis</a:t>
            </a:r>
          </a:p>
          <a:p>
            <a:pPr>
              <a:lnSpc>
                <a:spcPct val="100000"/>
              </a:lnSpc>
            </a:pPr>
            <a:r>
              <a:rPr lang="en-US" altLang="en-US" sz="1800" dirty="0">
                <a:ln/>
                <a:solidFill>
                  <a:schemeClr val="tx1"/>
                </a:solidFill>
                <a:latin typeface="Times New Roman" panose="02020603050405020304" charset="0"/>
                <a:cs typeface="Times New Roman" panose="02020603050405020304" charset="0"/>
                <a:sym typeface="+mn-ea"/>
              </a:rPr>
              <a:t>• Power BI – data modeling, DAX, KPIs, charts, slicers and dashboard</a:t>
            </a:r>
          </a:p>
          <a:p>
            <a:pPr>
              <a:lnSpc>
                <a:spcPct val="100000"/>
              </a:lnSpc>
            </a:pPr>
            <a:r>
              <a:rPr lang="en-US" altLang="en-US" sz="1800" dirty="0">
                <a:ln/>
                <a:solidFill>
                  <a:schemeClr val="tx1"/>
                </a:solidFill>
                <a:latin typeface="Times New Roman" panose="02020603050405020304" charset="0"/>
                <a:cs typeface="Times New Roman" panose="02020603050405020304" charset="0"/>
                <a:sym typeface="+mn-ea"/>
              </a:rPr>
              <a:t>Key Features:</a:t>
            </a:r>
          </a:p>
          <a:p>
            <a:pPr>
              <a:lnSpc>
                <a:spcPct val="100000"/>
              </a:lnSpc>
            </a:pPr>
            <a:r>
              <a:rPr lang="en-US" altLang="en-US" sz="1800" dirty="0">
                <a:ln/>
                <a:solidFill>
                  <a:schemeClr val="tx1"/>
                </a:solidFill>
                <a:latin typeface="Times New Roman" panose="02020603050405020304" charset="0"/>
                <a:cs typeface="Times New Roman" panose="02020603050405020304" charset="0"/>
                <a:sym typeface="+mn-ea"/>
              </a:rPr>
              <a:t>• </a:t>
            </a:r>
            <a:r>
              <a:rPr lang="en-US" altLang="en-US" sz="1800" dirty="0" err="1">
                <a:ln/>
                <a:solidFill>
                  <a:schemeClr val="tx1"/>
                </a:solidFill>
                <a:latin typeface="Times New Roman" panose="02020603050405020304" charset="0"/>
                <a:cs typeface="Times New Roman" panose="02020603050405020304" charset="0"/>
                <a:sym typeface="+mn-ea"/>
              </a:rPr>
              <a:t>age_group</a:t>
            </a:r>
            <a:r>
              <a:rPr lang="en-US" altLang="en-US" sz="1800" dirty="0">
                <a:ln/>
                <a:solidFill>
                  <a:schemeClr val="tx1"/>
                </a:solidFill>
                <a:latin typeface="Times New Roman" panose="02020603050405020304" charset="0"/>
                <a:cs typeface="Times New Roman" panose="02020603050405020304" charset="0"/>
                <a:sym typeface="+mn-ea"/>
              </a:rPr>
              <a:t> – customer age segmentation</a:t>
            </a:r>
          </a:p>
          <a:p>
            <a:pPr>
              <a:lnSpc>
                <a:spcPct val="100000"/>
              </a:lnSpc>
            </a:pPr>
            <a:r>
              <a:rPr sz="1800" dirty="0">
                <a:latin typeface="Times New Roman" panose="02020603050405020304" pitchFamily="18" charset="0"/>
                <a:cs typeface="Times New Roman" panose="02020603050405020304" pitchFamily="18" charset="0"/>
              </a:rPr>
              <a:t>• </a:t>
            </a:r>
            <a:r>
              <a:rPr sz="1800" dirty="0" err="1">
                <a:latin typeface="Times New Roman" panose="02020603050405020304" pitchFamily="18" charset="0"/>
                <a:cs typeface="Times New Roman" panose="02020603050405020304" pitchFamily="18" charset="0"/>
              </a:rPr>
              <a:t>purchase_frequency_days</a:t>
            </a:r>
            <a:r>
              <a:rPr sz="1800" dirty="0">
                <a:latin typeface="Times New Roman" panose="02020603050405020304" pitchFamily="18" charset="0"/>
                <a:cs typeface="Times New Roman" panose="02020603050405020304" pitchFamily="18" charset="0"/>
              </a:rPr>
              <a:t> – purchase frequency analysis</a:t>
            </a:r>
          </a:p>
          <a:p>
            <a:pPr>
              <a:lnSpc>
                <a:spcPct val="100000"/>
              </a:lnSpc>
            </a:pPr>
            <a:r>
              <a:rPr sz="1800" dirty="0">
                <a:latin typeface="Times New Roman" panose="02020603050405020304" pitchFamily="18" charset="0"/>
                <a:cs typeface="Times New Roman" panose="02020603050405020304" pitchFamily="18" charset="0"/>
              </a:rPr>
              <a:t>• Standardized column names and validated data consistency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869315" y="1263721"/>
            <a:ext cx="10515600" cy="4829739"/>
          </a:xfrm>
        </p:spPr>
        <p:txBody>
          <a:bodyPr>
            <a:normAutofit fontScale="37500" lnSpcReduction="20000"/>
          </a:bodyPr>
          <a:lstStyle/>
          <a:p>
            <a:pPr marL="0" lvl="0" algn="ctr" eaLnBrk="0" fontAlgn="base" hangingPunct="0">
              <a:lnSpc>
                <a:spcPct val="160000"/>
              </a:lnSpc>
              <a:spcBef>
                <a:spcPct val="0"/>
              </a:spcBef>
              <a:spcAft>
                <a:spcPct val="0"/>
              </a:spcAft>
              <a:buFontTx/>
            </a:pPr>
            <a:r>
              <a:rPr altLang="en-US" sz="6400" b="1" dirty="0">
                <a:solidFill>
                  <a:schemeClr val="accent2">
                    <a:lumMod val="75000"/>
                  </a:schemeClr>
                </a:solidFill>
                <a:latin typeface="Times New Roman" panose="02020603050405020304" pitchFamily="18" charset="0"/>
                <a:cs typeface="Times New Roman" panose="02020603050405020304" pitchFamily="18" charset="0"/>
                <a:sym typeface="+mn-ea"/>
              </a:rPr>
              <a:t>Implementation / Tasks Performed</a:t>
            </a:r>
          </a:p>
          <a:p>
            <a:pPr marL="0" lvl="0" algn="l" eaLnBrk="0" fontAlgn="base" hangingPunct="0">
              <a:lnSpc>
                <a:spcPct val="160000"/>
              </a:lnSpc>
              <a:spcBef>
                <a:spcPct val="0"/>
              </a:spcBef>
              <a:spcAft>
                <a:spcPct val="0"/>
              </a:spcAft>
              <a:buFontTx/>
            </a:pPr>
            <a:r>
              <a:rPr lang="en-US" altLang="en-US" sz="4800" b="1" u="sng" dirty="0">
                <a:ln/>
                <a:solidFill>
                  <a:schemeClr val="tx1"/>
                </a:solidFill>
                <a:latin typeface="Times New Roman" panose="02020603050405020304" charset="0"/>
                <a:cs typeface="Times New Roman" panose="02020603050405020304" charset="0"/>
                <a:sym typeface="+mn-ea"/>
              </a:rPr>
              <a:t>During the project, my responsibilities included:</a:t>
            </a:r>
          </a:p>
          <a:p>
            <a:pPr marL="0" lvl="0" algn="l" eaLnBrk="0" fontAlgn="base" hangingPunct="0">
              <a:lnSpc>
                <a:spcPct val="160000"/>
              </a:lnSpc>
              <a:spcBef>
                <a:spcPct val="0"/>
              </a:spcBef>
              <a:spcAft>
                <a:spcPct val="0"/>
              </a:spcAft>
            </a:pPr>
            <a:r>
              <a:rPr lang="en-US" altLang="en-US" sz="4800" dirty="0">
                <a:latin typeface="Times New Roman" panose="02020603050405020304" charset="0"/>
                <a:cs typeface="Times New Roman" panose="02020603050405020304" charset="0"/>
                <a:sym typeface="+mn-ea"/>
              </a:rPr>
              <a:t>• Loading and exploring the 3,900-record dataset using Python/Pandas.</a:t>
            </a:r>
          </a:p>
          <a:p>
            <a:pPr marL="0" lvl="0" algn="l" eaLnBrk="0" fontAlgn="base" hangingPunct="0">
              <a:lnSpc>
                <a:spcPct val="160000"/>
              </a:lnSpc>
              <a:spcBef>
                <a:spcPct val="0"/>
              </a:spcBef>
              <a:spcAft>
                <a:spcPct val="0"/>
              </a:spcAft>
            </a:pPr>
            <a:r>
              <a:rPr lang="en-US" altLang="en-US" sz="4800" dirty="0">
                <a:ln/>
                <a:solidFill>
                  <a:schemeClr val="tx1"/>
                </a:solidFill>
                <a:latin typeface="Times New Roman" panose="02020603050405020304" charset="0"/>
                <a:cs typeface="Times New Roman" panose="02020603050405020304" charset="0"/>
                <a:sym typeface="+mn-ea"/>
              </a:rPr>
              <a:t>• Handling missing Review Rating values and standardizing columns.</a:t>
            </a:r>
          </a:p>
          <a:p>
            <a:pPr marL="0" lvl="0" algn="l" eaLnBrk="0" fontAlgn="base" hangingPunct="0">
              <a:lnSpc>
                <a:spcPct val="160000"/>
              </a:lnSpc>
              <a:spcBef>
                <a:spcPct val="0"/>
              </a:spcBef>
              <a:spcAft>
                <a:spcPct val="0"/>
              </a:spcAft>
            </a:pPr>
            <a:r>
              <a:rPr lang="en-US" altLang="en-US" sz="4800" dirty="0">
                <a:ln/>
                <a:solidFill>
                  <a:schemeClr val="tx1"/>
                </a:solidFill>
                <a:latin typeface="Times New Roman" panose="02020603050405020304" charset="0"/>
                <a:cs typeface="Times New Roman" panose="02020603050405020304" charset="0"/>
                <a:sym typeface="+mn-ea"/>
              </a:rPr>
              <a:t>• Creating age groups and purchase-frequency features.</a:t>
            </a:r>
          </a:p>
          <a:p>
            <a:pPr marL="0" lvl="0" algn="l" eaLnBrk="0" fontAlgn="base" hangingPunct="0">
              <a:lnSpc>
                <a:spcPct val="160000"/>
              </a:lnSpc>
              <a:spcBef>
                <a:spcPct val="0"/>
              </a:spcBef>
              <a:spcAft>
                <a:spcPct val="0"/>
              </a:spcAft>
            </a:pPr>
            <a:r>
              <a:rPr lang="en-US" altLang="en-US" sz="4800" dirty="0">
                <a:ln/>
                <a:solidFill>
                  <a:schemeClr val="tx1"/>
                </a:solidFill>
                <a:latin typeface="Times New Roman" panose="02020603050405020304" charset="0"/>
                <a:cs typeface="Times New Roman" panose="02020603050405020304" charset="0"/>
                <a:sym typeface="+mn-ea"/>
              </a:rPr>
              <a:t>• Loading cleaned data into PostgreSQL.</a:t>
            </a:r>
          </a:p>
          <a:p>
            <a:pPr marL="0" lvl="0" algn="l" eaLnBrk="0" fontAlgn="base" hangingPunct="0">
              <a:lnSpc>
                <a:spcPct val="160000"/>
              </a:lnSpc>
              <a:spcBef>
                <a:spcPct val="0"/>
              </a:spcBef>
              <a:spcAft>
                <a:spcPct val="0"/>
              </a:spcAft>
            </a:pPr>
            <a:r>
              <a:rPr lang="en-US" altLang="en-US" sz="4800" dirty="0">
                <a:ln/>
                <a:solidFill>
                  <a:schemeClr val="tx1"/>
                </a:solidFill>
                <a:latin typeface="Times New Roman" panose="02020603050405020304" charset="0"/>
                <a:cs typeface="Times New Roman" panose="02020603050405020304" charset="0"/>
                <a:sym typeface="+mn-ea"/>
              </a:rPr>
              <a:t>• Writing SQL queries for revenue, discounts, products, shipping, subscriptions and customer segmentation.</a:t>
            </a:r>
          </a:p>
          <a:p>
            <a:pPr marL="0" lvl="0" algn="l" eaLnBrk="0" fontAlgn="base" hangingPunct="0">
              <a:lnSpc>
                <a:spcPct val="160000"/>
              </a:lnSpc>
              <a:spcBef>
                <a:spcPct val="0"/>
              </a:spcBef>
              <a:spcAft>
                <a:spcPct val="0"/>
              </a:spcAft>
            </a:pPr>
            <a:r>
              <a:rPr lang="en-US" altLang="en-US" sz="4800" dirty="0">
                <a:ln/>
                <a:solidFill>
                  <a:schemeClr val="tx1"/>
                </a:solidFill>
                <a:latin typeface="Times New Roman" panose="02020603050405020304" charset="0"/>
                <a:cs typeface="Times New Roman" panose="02020603050405020304" charset="0"/>
                <a:sym typeface="+mn-ea"/>
              </a:rPr>
              <a:t>• Comparing subscriber and non-subscriber spending.</a:t>
            </a:r>
          </a:p>
          <a:p>
            <a:pPr marL="0" lvl="0" algn="l" eaLnBrk="0" fontAlgn="base" hangingPunct="0">
              <a:lnSpc>
                <a:spcPct val="160000"/>
              </a:lnSpc>
              <a:spcBef>
                <a:spcPct val="0"/>
              </a:spcBef>
              <a:spcAft>
                <a:spcPct val="0"/>
              </a:spcAft>
            </a:pPr>
            <a:r>
              <a:rPr lang="en-GB" altLang="en-US" sz="4800" dirty="0">
                <a:ln/>
                <a:solidFill>
                  <a:schemeClr val="tx1"/>
                </a:solidFill>
                <a:latin typeface="Times New Roman" panose="02020603050405020304" charset="0"/>
                <a:cs typeface="Times New Roman" panose="02020603050405020304" charset="0"/>
                <a:sym typeface="+mn-ea"/>
              </a:rPr>
              <a:t>• Identifying top-rated and best-selling products.</a:t>
            </a:r>
          </a:p>
          <a:p>
            <a:pPr marL="0" lvl="0" algn="l" eaLnBrk="0" fontAlgn="base" hangingPunct="0">
              <a:lnSpc>
                <a:spcPct val="160000"/>
              </a:lnSpc>
              <a:spcBef>
                <a:spcPct val="0"/>
              </a:spcBef>
              <a:spcAft>
                <a:spcPct val="0"/>
              </a:spcAft>
            </a:pPr>
            <a:r>
              <a:rPr lang="en-US" altLang="en-US" sz="4800" dirty="0">
                <a:ln/>
                <a:solidFill>
                  <a:schemeClr val="tx1"/>
                </a:solidFill>
                <a:latin typeface="Times New Roman" panose="02020603050405020304" charset="0"/>
                <a:cs typeface="Times New Roman" panose="02020603050405020304" charset="0"/>
                <a:sym typeface="+mn-ea"/>
              </a:rPr>
              <a:t>• Developing an interactive Power BI dashboard with KPIs, charts, slicers and filters.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330200" y="712270"/>
            <a:ext cx="11066112" cy="6073542"/>
          </a:xfrm>
        </p:spPr>
        <p:txBody>
          <a:bodyPr>
            <a:normAutofit fontScale="25000" lnSpcReduction="20000"/>
          </a:bodyPr>
          <a:lstStyle/>
          <a:p>
            <a:pPr marL="0" lvl="0" algn="ctr" eaLnBrk="0" fontAlgn="base" hangingPunct="0">
              <a:lnSpc>
                <a:spcPct val="160000"/>
              </a:lnSpc>
              <a:spcBef>
                <a:spcPct val="0"/>
              </a:spcBef>
              <a:spcAft>
                <a:spcPct val="0"/>
              </a:spcAft>
              <a:buFontTx/>
            </a:pPr>
            <a:r>
              <a:rPr altLang="en-US" sz="9600" b="1" dirty="0">
                <a:solidFill>
                  <a:schemeClr val="accent2">
                    <a:lumMod val="75000"/>
                  </a:schemeClr>
                </a:solidFill>
                <a:latin typeface="Times New Roman" panose="02020603050405020304" pitchFamily="18" charset="0"/>
                <a:cs typeface="Times New Roman" panose="02020603050405020304" pitchFamily="18" charset="0"/>
                <a:sym typeface="+mn-ea"/>
              </a:rPr>
              <a:t>Conclusion &amp; Future Learning</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Key Findings:</a:t>
            </a:r>
          </a:p>
          <a:p>
            <a:pPr marL="0" lvl="0" algn="l" eaLnBrk="0" fontAlgn="base" hangingPunct="0">
              <a:lnSpc>
                <a:spcPct val="160000"/>
              </a:lnSpc>
              <a:spcBef>
                <a:spcPct val="0"/>
              </a:spcBef>
              <a:spcAft>
                <a:spcPct val="0"/>
              </a:spcAft>
              <a:buFontTx/>
            </a:pPr>
            <a:r>
              <a:rPr lang="en-US" altLang="en-US" sz="7200">
                <a:ln/>
                <a:solidFill>
                  <a:schemeClr val="tx1"/>
                </a:solidFill>
                <a:latin typeface="Times New Roman" panose="02020603050405020304" pitchFamily="18" charset="0"/>
                <a:cs typeface="Times New Roman" panose="02020603050405020304" pitchFamily="18" charset="0"/>
                <a:sym typeface="+mn-ea"/>
              </a:rPr>
              <a:t>• </a:t>
            </a:r>
            <a:r>
              <a:rPr lang="en-US" altLang="en-US" sz="7200">
                <a:ln/>
                <a:latin typeface="Times New Roman" panose="02020603050405020304" pitchFamily="18" charset="0"/>
                <a:cs typeface="Times New Roman" panose="02020603050405020304" pitchFamily="18" charset="0"/>
                <a:sym typeface="+mn-ea"/>
              </a:rPr>
              <a:t>male </a:t>
            </a:r>
            <a:r>
              <a:rPr lang="en-US" altLang="en-US" sz="7200">
                <a:ln/>
                <a:solidFill>
                  <a:schemeClr val="tx1"/>
                </a:solidFill>
                <a:latin typeface="Times New Roman" panose="02020603050405020304" pitchFamily="18" charset="0"/>
                <a:cs typeface="Times New Roman" panose="02020603050405020304" pitchFamily="18" charset="0"/>
                <a:sym typeface="+mn-ea"/>
              </a:rPr>
              <a:t>customers </a:t>
            </a:r>
            <a:r>
              <a:rPr lang="en-US" altLang="en-US" sz="7200" dirty="0">
                <a:ln/>
                <a:solidFill>
                  <a:schemeClr val="tx1"/>
                </a:solidFill>
                <a:latin typeface="Times New Roman" panose="02020603050405020304" pitchFamily="18" charset="0"/>
                <a:cs typeface="Times New Roman" panose="02020603050405020304" pitchFamily="18" charset="0"/>
                <a:sym typeface="+mn-ea"/>
              </a:rPr>
              <a:t>generated slightly higher total revenue </a:t>
            </a:r>
            <a:r>
              <a:rPr lang="en-US" altLang="en-US" sz="7200">
                <a:ln/>
                <a:solidFill>
                  <a:schemeClr val="tx1"/>
                </a:solidFill>
                <a:latin typeface="Times New Roman" panose="02020603050405020304" pitchFamily="18" charset="0"/>
                <a:cs typeface="Times New Roman" panose="02020603050405020304" pitchFamily="18" charset="0"/>
                <a:sym typeface="+mn-ea"/>
              </a:rPr>
              <a:t>than female </a:t>
            </a:r>
            <a:r>
              <a:rPr lang="en-US" altLang="en-US" sz="7200" dirty="0">
                <a:ln/>
                <a:solidFill>
                  <a:schemeClr val="tx1"/>
                </a:solidFill>
                <a:latin typeface="Times New Roman" panose="02020603050405020304" pitchFamily="18" charset="0"/>
                <a:cs typeface="Times New Roman" panose="02020603050405020304" pitchFamily="18" charset="0"/>
                <a:sym typeface="+mn-ea"/>
              </a:rPr>
              <a:t>customers.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 Subscription members and Express-shipping users showed higher purchase values.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 New, Returning and Loyal customer segments were identified from purchase history.</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 Top-rated and best-selling products provide opportunities for focused campaigns.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 Discount usage and loyalty patterns support targeted marketing strategies.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Business Recommendations: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 Promote exclusive subscription benefits.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 Reward repeat buyers through loyalty programs.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 Review discount policies while protecting margins.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 Highlight top-rated products in campaigns.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 Target high-revenue customer groups and Express-shipping users.</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Future Learning:</a:t>
            </a:r>
          </a:p>
          <a:p>
            <a:pPr marL="0" lvl="0" algn="l" eaLnBrk="0" fontAlgn="base" hangingPunct="0">
              <a:lnSpc>
                <a:spcPct val="160000"/>
              </a:lnSpc>
              <a:spcBef>
                <a:spcPct val="0"/>
              </a:spcBef>
              <a:spcAft>
                <a:spcPct val="0"/>
              </a:spcAft>
              <a:buFontTx/>
            </a:pPr>
            <a:r>
              <a:rPr lang="en-US" altLang="en-US" sz="7200" dirty="0">
                <a:ln/>
                <a:solidFill>
                  <a:schemeClr val="tx1"/>
                </a:solidFill>
                <a:latin typeface="Times New Roman" panose="02020603050405020304" pitchFamily="18" charset="0"/>
                <a:cs typeface="Times New Roman" panose="02020603050405020304" pitchFamily="18" charset="0"/>
                <a:sym typeface="+mn-ea"/>
              </a:rPr>
              <a:t>Advance skills in SQL, Power BI/DAX, predictive analytics, automation and Business Intelligence.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760396" y="1857677"/>
            <a:ext cx="10299031" cy="3205212"/>
          </a:xfrm>
        </p:spPr>
        <p:txBody>
          <a:bodyPr>
            <a:normAutofit fontScale="85000" lnSpcReduction="20000"/>
          </a:bodyPr>
          <a:lstStyle/>
          <a:p>
            <a:pPr algn="ctr"/>
            <a:r>
              <a:rPr sz="152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710</Words>
  <Application>Microsoft Office PowerPoint</Application>
  <PresentationFormat>Widescreen</PresentationFormat>
  <Paragraphs>80</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Bookman Old Style</vt:lpstr>
      <vt:lpstr>ADLaM Display</vt:lpstr>
      <vt:lpstr>Times New Roman</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usharani kothapalli</dc:creator>
  <cp:lastModifiedBy>ushar</cp:lastModifiedBy>
  <cp:revision>50</cp:revision>
  <dcterms:created xsi:type="dcterms:W3CDTF">2025-05-29T13:02:00Z</dcterms:created>
  <dcterms:modified xsi:type="dcterms:W3CDTF">2026-08-13T05:08:25Z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890290E3A4A24C6EAD7FEECCAA1C6FE2_13</vt:lpwstr>
  </property>
</Properties>
</file>